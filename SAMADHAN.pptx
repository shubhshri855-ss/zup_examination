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" charset="1" panose="00000500000000000000"/>
      <p:regular r:id="rId16"/>
    </p:embeddedFont>
    <p:embeddedFont>
      <p:font typeface="Anton" charset="1" panose="00000500000000000000"/>
      <p:regular r:id="rId17"/>
    </p:embeddedFont>
    <p:embeddedFont>
      <p:font typeface="Open Sauce Bold" charset="1" panose="00000800000000000000"/>
      <p:regular r:id="rId18"/>
    </p:embeddedFont>
    <p:embeddedFont>
      <p:font typeface="Noto Serif" charset="1" panose="02020600060500020200"/>
      <p:regular r:id="rId19"/>
    </p:embeddedFont>
    <p:embeddedFont>
      <p:font typeface="Georgia" charset="1" panose="02040502050405020303"/>
      <p:regular r:id="rId20"/>
    </p:embeddedFont>
    <p:embeddedFont>
      <p:font typeface="Calibri (MS)" charset="1" panose="020F0502020204030204"/>
      <p:regular r:id="rId21"/>
    </p:embeddedFont>
    <p:embeddedFont>
      <p:font typeface="Noto Serif Italics" charset="1" panose="02020600060500090200"/>
      <p:regular r:id="rId22"/>
    </p:embeddedFont>
    <p:embeddedFont>
      <p:font typeface="Lovelo" charset="1" panose="02000000000000000000"/>
      <p:regular r:id="rId23"/>
    </p:embeddedFont>
    <p:embeddedFont>
      <p:font typeface="Georgia Bold" charset="1" panose="02040802050405020203"/>
      <p:regular r:id="rId24"/>
    </p:embeddedFont>
    <p:embeddedFont>
      <p:font typeface="Noto Serif Bold" charset="1" panose="02020800060500020200"/>
      <p:regular r:id="rId25"/>
    </p:embeddedFont>
    <p:embeddedFont>
      <p:font typeface="Calibri (MS) Bold" charset="1" panose="020F0702030404030204"/>
      <p:regular r:id="rId26"/>
    </p:embeddedFont>
    <p:embeddedFont>
      <p:font typeface="Canva Sans Bold" charset="1" panose="020B0803030501040103"/>
      <p:regular r:id="rId27"/>
    </p:embeddedFont>
    <p:embeddedFont>
      <p:font typeface="Amsterdam Four" charset="1" panose="02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Relationship Id="rId7" Target="../media/image14.jpe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14.jpeg" Type="http://schemas.openxmlformats.org/officeDocument/2006/relationships/image"/><Relationship Id="rId3" Target="../media/image13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3.jpe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3.jpe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3.jpe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2" Target="../media/image14.jpeg" Type="http://schemas.openxmlformats.org/officeDocument/2006/relationships/image"/><Relationship Id="rId3" Target="../media/image13.jpe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3B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32181" y="4567876"/>
            <a:ext cx="10303812" cy="10287000"/>
          </a:xfrm>
          <a:custGeom>
            <a:avLst/>
            <a:gdLst/>
            <a:ahLst/>
            <a:cxnLst/>
            <a:rect r="r" b="b" t="t" l="l"/>
            <a:pathLst>
              <a:path h="10287000" w="10303812">
                <a:moveTo>
                  <a:pt x="0" y="0"/>
                </a:moveTo>
                <a:lnTo>
                  <a:pt x="10303812" y="0"/>
                </a:lnTo>
                <a:lnTo>
                  <a:pt x="103038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2181" y="0"/>
            <a:ext cx="10303812" cy="10287000"/>
          </a:xfrm>
          <a:custGeom>
            <a:avLst/>
            <a:gdLst/>
            <a:ahLst/>
            <a:cxnLst/>
            <a:rect r="r" b="b" t="t" l="l"/>
            <a:pathLst>
              <a:path h="10287000" w="10303812">
                <a:moveTo>
                  <a:pt x="0" y="0"/>
                </a:moveTo>
                <a:lnTo>
                  <a:pt x="10303812" y="0"/>
                </a:lnTo>
                <a:lnTo>
                  <a:pt x="103038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33166" y="8934831"/>
            <a:ext cx="1547022" cy="646938"/>
          </a:xfrm>
          <a:custGeom>
            <a:avLst/>
            <a:gdLst/>
            <a:ahLst/>
            <a:cxnLst/>
            <a:rect r="r" b="b" t="t" l="l"/>
            <a:pathLst>
              <a:path h="646938" w="1547022">
                <a:moveTo>
                  <a:pt x="0" y="0"/>
                </a:moveTo>
                <a:lnTo>
                  <a:pt x="1547022" y="0"/>
                </a:lnTo>
                <a:lnTo>
                  <a:pt x="1547022" y="646938"/>
                </a:lnTo>
                <a:lnTo>
                  <a:pt x="0" y="646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3" r="0" b="-61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6133433" y="-1706903"/>
            <a:ext cx="12570067" cy="12549557"/>
          </a:xfrm>
          <a:custGeom>
            <a:avLst/>
            <a:gdLst/>
            <a:ahLst/>
            <a:cxnLst/>
            <a:rect r="r" b="b" t="t" l="l"/>
            <a:pathLst>
              <a:path h="12549557" w="12570067">
                <a:moveTo>
                  <a:pt x="0" y="0"/>
                </a:moveTo>
                <a:lnTo>
                  <a:pt x="12570067" y="0"/>
                </a:lnTo>
                <a:lnTo>
                  <a:pt x="12570067" y="12549557"/>
                </a:lnTo>
                <a:lnTo>
                  <a:pt x="0" y="12549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13785447" y="3988137"/>
            <a:ext cx="375002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INNOVX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16288" y="8351329"/>
            <a:ext cx="2917146" cy="149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Shubh Shrivastava</a:t>
            </a:r>
          </a:p>
          <a:p>
            <a:pPr algn="just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Abhijeet Bisen</a:t>
            </a:r>
          </a:p>
          <a:p>
            <a:pPr algn="just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Suryansh Sharma</a:t>
            </a:r>
          </a:p>
          <a:p>
            <a:pPr algn="just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Harsh Shrivastava</a:t>
            </a:r>
          </a:p>
          <a:p>
            <a:pPr algn="just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Sarthak Jain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4068" y="1093775"/>
            <a:ext cx="2119865" cy="53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4041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72280" y="5398170"/>
            <a:ext cx="375002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INNOVX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872280" y="3988137"/>
            <a:ext cx="375002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INNOVX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351329"/>
            <a:ext cx="2187588" cy="30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1"/>
              </a:lnSpc>
            </a:pPr>
            <a:r>
              <a:rPr lang="en-US" sz="2100" b="true">
                <a:solidFill>
                  <a:srgbClr val="FFFAE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33422" y="1343901"/>
            <a:ext cx="17306992" cy="722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9"/>
              </a:lnSpc>
            </a:pPr>
            <a:r>
              <a:rPr lang="en-US" sz="23716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THE CODE</a:t>
            </a:r>
          </a:p>
          <a:p>
            <a:pPr algn="l">
              <a:lnSpc>
                <a:spcPts val="28459"/>
              </a:lnSpc>
              <a:spcBef>
                <a:spcPct val="0"/>
              </a:spcBef>
            </a:pPr>
            <a:r>
              <a:rPr lang="en-US" sz="23716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CREW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8428" y="696963"/>
            <a:ext cx="1547022" cy="646938"/>
          </a:xfrm>
          <a:custGeom>
            <a:avLst/>
            <a:gdLst/>
            <a:ahLst/>
            <a:cxnLst/>
            <a:rect r="r" b="b" t="t" l="l"/>
            <a:pathLst>
              <a:path h="646938" w="1547022">
                <a:moveTo>
                  <a:pt x="0" y="0"/>
                </a:moveTo>
                <a:lnTo>
                  <a:pt x="1547022" y="0"/>
                </a:lnTo>
                <a:lnTo>
                  <a:pt x="1547022" y="646938"/>
                </a:lnTo>
                <a:lnTo>
                  <a:pt x="0" y="646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3" r="0" b="-61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52644" y="1962060"/>
            <a:ext cx="1547022" cy="646938"/>
          </a:xfrm>
          <a:custGeom>
            <a:avLst/>
            <a:gdLst/>
            <a:ahLst/>
            <a:cxnLst/>
            <a:rect r="r" b="b" t="t" l="l"/>
            <a:pathLst>
              <a:path h="646938" w="1547022">
                <a:moveTo>
                  <a:pt x="0" y="0"/>
                </a:moveTo>
                <a:lnTo>
                  <a:pt x="1547022" y="0"/>
                </a:lnTo>
                <a:lnTo>
                  <a:pt x="1547022" y="646938"/>
                </a:lnTo>
                <a:lnTo>
                  <a:pt x="0" y="646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3" r="0" b="-61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312596">
            <a:off x="-2709020" y="-1524629"/>
            <a:ext cx="8553011" cy="8539056"/>
          </a:xfrm>
          <a:custGeom>
            <a:avLst/>
            <a:gdLst/>
            <a:ahLst/>
            <a:cxnLst/>
            <a:rect r="r" b="b" t="t" l="l"/>
            <a:pathLst>
              <a:path h="8539056" w="8553011">
                <a:moveTo>
                  <a:pt x="0" y="0"/>
                </a:moveTo>
                <a:lnTo>
                  <a:pt x="8553011" y="0"/>
                </a:lnTo>
                <a:lnTo>
                  <a:pt x="8553011" y="8539056"/>
                </a:lnTo>
                <a:lnTo>
                  <a:pt x="0" y="8539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22494" y="6264545"/>
            <a:ext cx="1547022" cy="646938"/>
          </a:xfrm>
          <a:custGeom>
            <a:avLst/>
            <a:gdLst/>
            <a:ahLst/>
            <a:cxnLst/>
            <a:rect r="r" b="b" t="t" l="l"/>
            <a:pathLst>
              <a:path h="646938" w="1547022">
                <a:moveTo>
                  <a:pt x="0" y="0"/>
                </a:moveTo>
                <a:lnTo>
                  <a:pt x="1547022" y="0"/>
                </a:lnTo>
                <a:lnTo>
                  <a:pt x="1547022" y="646938"/>
                </a:lnTo>
                <a:lnTo>
                  <a:pt x="0" y="646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3" r="0" b="-61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62738" y="2460449"/>
            <a:ext cx="2209495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TEAM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944350" y="6035550"/>
            <a:ext cx="31192127" cy="22769265"/>
          </a:xfrm>
          <a:custGeom>
            <a:avLst/>
            <a:gdLst/>
            <a:ahLst/>
            <a:cxnLst/>
            <a:rect r="r" b="b" t="t" l="l"/>
            <a:pathLst>
              <a:path h="22769265" w="31192127">
                <a:moveTo>
                  <a:pt x="0" y="0"/>
                </a:moveTo>
                <a:lnTo>
                  <a:pt x="31192128" y="0"/>
                </a:lnTo>
                <a:lnTo>
                  <a:pt x="31192128" y="22769264"/>
                </a:lnTo>
                <a:lnTo>
                  <a:pt x="0" y="227692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8" r="0" b="-2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62738" y="3438984"/>
            <a:ext cx="2873375" cy="45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  <a:spcBef>
                <a:spcPct val="0"/>
              </a:spcBef>
            </a:pPr>
            <a:r>
              <a:rPr lang="en-US" sz="267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CODE - UOC016L9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60103" y="-1841497"/>
            <a:ext cx="10083736" cy="10083737"/>
          </a:xfrm>
          <a:custGeom>
            <a:avLst/>
            <a:gdLst/>
            <a:ahLst/>
            <a:cxnLst/>
            <a:rect r="r" b="b" t="t" l="l"/>
            <a:pathLst>
              <a:path h="10083737" w="10083736">
                <a:moveTo>
                  <a:pt x="0" y="0"/>
                </a:moveTo>
                <a:lnTo>
                  <a:pt x="10083737" y="0"/>
                </a:lnTo>
                <a:lnTo>
                  <a:pt x="10083737" y="10083737"/>
                </a:lnTo>
                <a:lnTo>
                  <a:pt x="0" y="100837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03303" y="2730503"/>
            <a:ext cx="5511832" cy="5511736"/>
          </a:xfrm>
          <a:custGeom>
            <a:avLst/>
            <a:gdLst/>
            <a:ahLst/>
            <a:cxnLst/>
            <a:rect r="r" b="b" t="t" l="l"/>
            <a:pathLst>
              <a:path h="5511736" w="5511832">
                <a:moveTo>
                  <a:pt x="0" y="0"/>
                </a:moveTo>
                <a:lnTo>
                  <a:pt x="5511832" y="0"/>
                </a:lnTo>
                <a:lnTo>
                  <a:pt x="5511832" y="5511737"/>
                </a:lnTo>
                <a:lnTo>
                  <a:pt x="0" y="5511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" y="778478"/>
            <a:ext cx="16459200" cy="519208"/>
            <a:chOff x="0" y="0"/>
            <a:chExt cx="21945600" cy="692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92277"/>
            </a:xfrm>
            <a:custGeom>
              <a:avLst/>
              <a:gdLst/>
              <a:ahLst/>
              <a:cxnLst/>
              <a:rect r="r" b="b" t="t" l="l"/>
              <a:pathLst>
                <a:path h="69227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7687" r="0" b="-5676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spc="800">
                  <a:solidFill>
                    <a:srgbClr val="F63B05"/>
                  </a:solidFill>
                  <a:latin typeface="Noto Serif"/>
                  <a:ea typeface="Noto Serif"/>
                  <a:cs typeface="Noto Serif"/>
                  <a:sym typeface="Noto Serif"/>
                </a:rPr>
                <a:t>THE PROBLEM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370838"/>
            <a:ext cx="16459200" cy="1285923"/>
            <a:chOff x="0" y="0"/>
            <a:chExt cx="21945600" cy="17145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714627"/>
            </a:xfrm>
            <a:custGeom>
              <a:avLst/>
              <a:gdLst/>
              <a:ahLst/>
              <a:cxnLst/>
              <a:rect r="r" b="b" t="t" l="l"/>
              <a:pathLst>
                <a:path h="171462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4627"/>
                  </a:lnTo>
                  <a:lnTo>
                    <a:pt x="0" y="171462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9218" r="0" b="-19921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0100" y="1038082"/>
            <a:ext cx="16459200" cy="1293069"/>
            <a:chOff x="0" y="0"/>
            <a:chExt cx="21945600" cy="17240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24095"/>
            </a:xfrm>
            <a:custGeom>
              <a:avLst/>
              <a:gdLst/>
              <a:ahLst/>
              <a:cxnLst/>
              <a:rect r="r" b="b" t="t" l="l"/>
              <a:pathLst>
                <a:path h="172409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24095"/>
                  </a:lnTo>
                  <a:lnTo>
                    <a:pt x="0" y="17240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8020" r="0" b="-19802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733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>
                  <a:solidFill>
                    <a:srgbClr val="F5F0E8"/>
                  </a:solidFill>
                  <a:latin typeface="Georgia"/>
                  <a:ea typeface="Georgia"/>
                  <a:cs typeface="Georgia"/>
                  <a:sym typeface="Georgia"/>
                </a:rPr>
                <a:t>Exams that are secure, fair, and intelligently monitored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01703" y="2967485"/>
            <a:ext cx="16484537" cy="1707833"/>
          </a:xfrm>
          <a:custGeom>
            <a:avLst/>
            <a:gdLst/>
            <a:ahLst/>
            <a:cxnLst/>
            <a:rect r="r" b="b" t="t" l="l"/>
            <a:pathLst>
              <a:path h="1707833" w="16484537">
                <a:moveTo>
                  <a:pt x="0" y="0"/>
                </a:moveTo>
                <a:lnTo>
                  <a:pt x="16484537" y="0"/>
                </a:lnTo>
                <a:lnTo>
                  <a:pt x="164845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1703" y="2997708"/>
            <a:ext cx="153353" cy="1707833"/>
          </a:xfrm>
          <a:custGeom>
            <a:avLst/>
            <a:gdLst/>
            <a:ahLst/>
            <a:cxnLst/>
            <a:rect r="r" b="b" t="t" l="l"/>
            <a:pathLst>
              <a:path h="1707833" w="153353">
                <a:moveTo>
                  <a:pt x="0" y="0"/>
                </a:moveTo>
                <a:lnTo>
                  <a:pt x="153353" y="0"/>
                </a:lnTo>
                <a:lnTo>
                  <a:pt x="153353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16736" y="3126486"/>
            <a:ext cx="1097280" cy="1389888"/>
            <a:chOff x="0" y="0"/>
            <a:chExt cx="1463040" cy="1853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31" t="0" r="-11263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16736" y="3126486"/>
            <a:ext cx="1097280" cy="1389888"/>
            <a:chOff x="0" y="0"/>
            <a:chExt cx="1463040" cy="1853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517" t="0" r="-11251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463040" cy="185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651760" y="3163062"/>
            <a:ext cx="14356080" cy="1316736"/>
            <a:chOff x="0" y="0"/>
            <a:chExt cx="19141440" cy="1755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141439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2293" r="0" b="-16229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651760" y="3120200"/>
            <a:ext cx="14356080" cy="1359598"/>
            <a:chOff x="0" y="0"/>
            <a:chExt cx="19141440" cy="18127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141439" cy="1812798"/>
            </a:xfrm>
            <a:custGeom>
              <a:avLst/>
              <a:gdLst/>
              <a:ahLst/>
              <a:cxnLst/>
              <a:rect r="r" b="b" t="t" l="l"/>
              <a:pathLst>
                <a:path h="181279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812798"/>
                  </a:lnTo>
                  <a:lnTo>
                    <a:pt x="0" y="18127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5743" r="0" b="-1557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9141440" cy="186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0B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Cheating - T</a:t>
              </a:r>
              <a:r>
                <a:rPr lang="en-US" sz="2700">
                  <a:solidFill>
                    <a:srgbClr val="C0B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 switching, Copy/Paste, </a:t>
              </a:r>
              <a:r>
                <a:rPr lang="en-US" sz="2700">
                  <a:solidFill>
                    <a:srgbClr val="C0B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</a:t>
              </a:r>
              <a:r>
                <a:rPr lang="en-US" sz="2700">
                  <a:solidFill>
                    <a:srgbClr val="C0B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rnal devices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01703" y="4942589"/>
            <a:ext cx="16484537" cy="1707833"/>
          </a:xfrm>
          <a:custGeom>
            <a:avLst/>
            <a:gdLst/>
            <a:ahLst/>
            <a:cxnLst/>
            <a:rect r="r" b="b" t="t" l="l"/>
            <a:pathLst>
              <a:path h="1707833" w="16484537">
                <a:moveTo>
                  <a:pt x="0" y="0"/>
                </a:moveTo>
                <a:lnTo>
                  <a:pt x="16484537" y="0"/>
                </a:lnTo>
                <a:lnTo>
                  <a:pt x="164845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25192" y="4942580"/>
            <a:ext cx="153353" cy="1707833"/>
          </a:xfrm>
          <a:custGeom>
            <a:avLst/>
            <a:gdLst/>
            <a:ahLst/>
            <a:cxnLst/>
            <a:rect r="r" b="b" t="t" l="l"/>
            <a:pathLst>
              <a:path h="1707833" w="153353">
                <a:moveTo>
                  <a:pt x="0" y="0"/>
                </a:moveTo>
                <a:lnTo>
                  <a:pt x="153352" y="0"/>
                </a:lnTo>
                <a:lnTo>
                  <a:pt x="153352" y="1707832"/>
                </a:lnTo>
                <a:lnTo>
                  <a:pt x="0" y="17078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16736" y="5101590"/>
            <a:ext cx="1097280" cy="1389888"/>
            <a:chOff x="0" y="0"/>
            <a:chExt cx="1463040" cy="1853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31" t="0" r="-112631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16736" y="5101590"/>
            <a:ext cx="1097280" cy="1389888"/>
            <a:chOff x="0" y="0"/>
            <a:chExt cx="1463040" cy="1853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517" t="0" r="-11251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3040" cy="185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📍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651760" y="5138166"/>
            <a:ext cx="14356080" cy="1316736"/>
            <a:chOff x="0" y="0"/>
            <a:chExt cx="19141440" cy="1755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141439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2293" r="0" b="-16229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651760" y="5095304"/>
            <a:ext cx="14356080" cy="1359598"/>
            <a:chOff x="0" y="0"/>
            <a:chExt cx="19141440" cy="18127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141439" cy="1812798"/>
            </a:xfrm>
            <a:custGeom>
              <a:avLst/>
              <a:gdLst/>
              <a:ahLst/>
              <a:cxnLst/>
              <a:rect r="r" b="b" t="t" l="l"/>
              <a:pathLst>
                <a:path h="181279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812798"/>
                  </a:lnTo>
                  <a:lnTo>
                    <a:pt x="0" y="18127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5743" r="0" b="-1557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141440" cy="186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0B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Poor Monitoring - Invigilators can't monitor every student effectively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01703" y="6917693"/>
            <a:ext cx="16484537" cy="1707833"/>
          </a:xfrm>
          <a:custGeom>
            <a:avLst/>
            <a:gdLst/>
            <a:ahLst/>
            <a:cxnLst/>
            <a:rect r="r" b="b" t="t" l="l"/>
            <a:pathLst>
              <a:path h="1707833" w="16484537">
                <a:moveTo>
                  <a:pt x="0" y="0"/>
                </a:moveTo>
                <a:lnTo>
                  <a:pt x="16484537" y="0"/>
                </a:lnTo>
                <a:lnTo>
                  <a:pt x="164845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25192" y="6917684"/>
            <a:ext cx="153353" cy="1707833"/>
          </a:xfrm>
          <a:custGeom>
            <a:avLst/>
            <a:gdLst/>
            <a:ahLst/>
            <a:cxnLst/>
            <a:rect r="r" b="b" t="t" l="l"/>
            <a:pathLst>
              <a:path h="1707833" w="153353">
                <a:moveTo>
                  <a:pt x="0" y="0"/>
                </a:moveTo>
                <a:lnTo>
                  <a:pt x="153352" y="0"/>
                </a:lnTo>
                <a:lnTo>
                  <a:pt x="153352" y="1707832"/>
                </a:lnTo>
                <a:lnTo>
                  <a:pt x="0" y="17078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316736" y="7076694"/>
            <a:ext cx="1097280" cy="1389888"/>
            <a:chOff x="0" y="0"/>
            <a:chExt cx="1463040" cy="18531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31" t="0" r="-112631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16736" y="7076694"/>
            <a:ext cx="1097280" cy="1389888"/>
            <a:chOff x="0" y="0"/>
            <a:chExt cx="1463040" cy="18531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517" t="0" r="-11251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463040" cy="185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📉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651760" y="7113270"/>
            <a:ext cx="14356080" cy="1316736"/>
            <a:chOff x="0" y="0"/>
            <a:chExt cx="19141440" cy="1755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141439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2293" r="0" b="-162293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651760" y="7070407"/>
            <a:ext cx="14356080" cy="1359598"/>
            <a:chOff x="0" y="0"/>
            <a:chExt cx="19141440" cy="181279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141439" cy="1812798"/>
            </a:xfrm>
            <a:custGeom>
              <a:avLst/>
              <a:gdLst/>
              <a:ahLst/>
              <a:cxnLst/>
              <a:rect r="r" b="b" t="t" l="l"/>
              <a:pathLst>
                <a:path h="181279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812798"/>
                  </a:lnTo>
                  <a:lnTo>
                    <a:pt x="0" y="18127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5743" r="0" b="-15574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9141440" cy="186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0B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Gaps - Multiple monitors, Task switching, Unauthorized applications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3247" y="857593"/>
            <a:ext cx="1452991" cy="607609"/>
          </a:xfrm>
          <a:custGeom>
            <a:avLst/>
            <a:gdLst/>
            <a:ahLst/>
            <a:cxnLst/>
            <a:rect r="r" b="b" t="t" l="l"/>
            <a:pathLst>
              <a:path h="607609" w="1452991">
                <a:moveTo>
                  <a:pt x="0" y="0"/>
                </a:moveTo>
                <a:lnTo>
                  <a:pt x="1452991" y="0"/>
                </a:lnTo>
                <a:lnTo>
                  <a:pt x="1452991" y="607609"/>
                </a:lnTo>
                <a:lnTo>
                  <a:pt x="0" y="607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96" r="0" b="-7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67061" y="8207569"/>
            <a:ext cx="7315200" cy="1050731"/>
          </a:xfrm>
          <a:custGeom>
            <a:avLst/>
            <a:gdLst/>
            <a:ahLst/>
            <a:cxnLst/>
            <a:rect r="r" b="b" t="t" l="l"/>
            <a:pathLst>
              <a:path h="1050731" w="7315200">
                <a:moveTo>
                  <a:pt x="0" y="0"/>
                </a:moveTo>
                <a:lnTo>
                  <a:pt x="7315200" y="0"/>
                </a:lnTo>
                <a:lnTo>
                  <a:pt x="7315200" y="1050731"/>
                </a:lnTo>
                <a:lnTo>
                  <a:pt x="0" y="105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65" r="0" b="-7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13345" y="917284"/>
            <a:ext cx="6889818" cy="114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5"/>
              </a:lnSpc>
            </a:pPr>
            <a:r>
              <a:rPr lang="en-US" sz="4567" i="true">
                <a:solidFill>
                  <a:srgbClr val="FFFFFF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One Platform.</a:t>
            </a:r>
          </a:p>
          <a:p>
            <a:pPr algn="ctr">
              <a:lnSpc>
                <a:spcPts val="4430"/>
              </a:lnSpc>
            </a:pPr>
            <a:r>
              <a:rPr lang="en-US" sz="4567" i="true">
                <a:solidFill>
                  <a:srgbClr val="FFFFFF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             </a:t>
            </a:r>
            <a:r>
              <a:rPr lang="en-US" sz="4567" i="true">
                <a:solidFill>
                  <a:srgbClr val="FFFFFF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Three  Layers.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92982" y="8660635"/>
            <a:ext cx="6032516" cy="11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7A7060"/>
                </a:solidFill>
                <a:latin typeface="Noto Serif"/>
                <a:ea typeface="Noto Serif"/>
                <a:cs typeface="Noto Serif"/>
                <a:sym typeface="Noto Serif"/>
              </a:rPr>
              <a:t>Traditional online exams verify answers — SAMADHAN X verifies the entire examination environment.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34223" y="933231"/>
            <a:ext cx="4263380" cy="127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94"/>
              </a:lnSpc>
            </a:pPr>
            <a:r>
              <a:rPr lang="en-US" sz="4500">
                <a:solidFill>
                  <a:srgbClr val="F63B05"/>
                </a:solidFill>
                <a:latin typeface="Anton"/>
                <a:ea typeface="Anton"/>
                <a:cs typeface="Anton"/>
                <a:sym typeface="Anton"/>
              </a:rPr>
              <a:t>Online Exams Have a Trust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72467"/>
            <a:ext cx="4457019" cy="233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1"/>
              </a:lnSpc>
            </a:pPr>
            <a:r>
              <a:rPr lang="en-US" sz="3365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AI Face Detection</a:t>
            </a:r>
          </a:p>
          <a:p>
            <a:pPr algn="l">
              <a:lnSpc>
                <a:spcPts val="4711"/>
              </a:lnSpc>
            </a:pPr>
            <a:r>
              <a:rPr lang="en-US" sz="3365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Violation Detection</a:t>
            </a:r>
          </a:p>
          <a:p>
            <a:pPr algn="l">
              <a:lnSpc>
                <a:spcPts val="4711"/>
              </a:lnSpc>
            </a:pPr>
            <a:r>
              <a:rPr lang="en-US" sz="3365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Real-Time Monitoring</a:t>
            </a:r>
          </a:p>
          <a:p>
            <a:pPr algn="l">
              <a:lnSpc>
                <a:spcPts val="4711"/>
              </a:lnSpc>
            </a:pPr>
            <a:r>
              <a:rPr lang="en-US" sz="3365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Secure Browser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48139" y="3281992"/>
            <a:ext cx="4560788" cy="293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Invigilator</a:t>
            </a: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Live seat map</a:t>
            </a: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Student status</a:t>
            </a: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Instant cheating alerts</a:t>
            </a: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Camera verification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32463" y="3281992"/>
            <a:ext cx="5393035" cy="175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Secure exam environment</a:t>
            </a: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Identity verification</a:t>
            </a: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Continuous proctoring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512064"/>
            <a:chOff x="0" y="0"/>
            <a:chExt cx="219456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868" r="0" b="-5758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1496"/>
            <a:ext cx="16459200" cy="519208"/>
            <a:chOff x="0" y="0"/>
            <a:chExt cx="21945600" cy="692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92277"/>
            </a:xfrm>
            <a:custGeom>
              <a:avLst/>
              <a:gdLst/>
              <a:ahLst/>
              <a:cxnLst/>
              <a:rect r="r" b="b" t="t" l="l"/>
              <a:pathLst>
                <a:path h="69227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687" r="0" b="-5676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spc="800">
                  <a:solidFill>
                    <a:srgbClr val="F63B05"/>
                  </a:solidFill>
                  <a:latin typeface="Noto Serif"/>
                  <a:ea typeface="Noto Serif"/>
                  <a:cs typeface="Noto Serif"/>
                  <a:sym typeface="Noto Serif"/>
                </a:rPr>
                <a:t>OUR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6459200" cy="1188720"/>
            <a:chOff x="0" y="0"/>
            <a:chExt cx="2194560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126712"/>
            <a:ext cx="16459200" cy="1285925"/>
            <a:chOff x="0" y="0"/>
            <a:chExt cx="21945600" cy="17145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14566"/>
            </a:xfrm>
            <a:custGeom>
              <a:avLst/>
              <a:gdLst/>
              <a:ahLst/>
              <a:cxnLst/>
              <a:rect r="r" b="b" t="t" l="l"/>
              <a:pathLst>
                <a:path h="171456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4566"/>
                  </a:lnTo>
                  <a:lnTo>
                    <a:pt x="0" y="17145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900" r="0" b="-1958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724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>
                  <a:solidFill>
                    <a:srgbClr val="F5F0E8"/>
                  </a:solidFill>
                  <a:latin typeface="Georgia"/>
                  <a:ea typeface="Georgia"/>
                  <a:cs typeface="Georgia"/>
                  <a:sym typeface="Georgia"/>
                </a:rPr>
                <a:t>How SAMADHAN X Works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88997" y="2681221"/>
            <a:ext cx="9614869" cy="3311595"/>
          </a:xfrm>
          <a:custGeom>
            <a:avLst/>
            <a:gdLst/>
            <a:ahLst/>
            <a:cxnLst/>
            <a:rect r="r" b="b" t="t" l="l"/>
            <a:pathLst>
              <a:path h="3311595" w="9614869">
                <a:moveTo>
                  <a:pt x="0" y="0"/>
                </a:moveTo>
                <a:lnTo>
                  <a:pt x="9614869" y="0"/>
                </a:lnTo>
                <a:lnTo>
                  <a:pt x="9614869" y="3311595"/>
                </a:lnTo>
                <a:lnTo>
                  <a:pt x="0" y="331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16736" y="2926080"/>
            <a:ext cx="9601200" cy="2743200"/>
            <a:chOff x="0" y="0"/>
            <a:chExt cx="12801600" cy="365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50" r="0" b="-1814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6736" y="2926080"/>
            <a:ext cx="9601200" cy="2743200"/>
            <a:chOff x="0" y="0"/>
            <a:chExt cx="12801600" cy="365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2801600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8"/>
                </a:lnSpc>
              </a:pPr>
              <a:r>
                <a:rPr lang="en-US" sz="3399">
                  <a:solidFill>
                    <a:srgbClr val="F63B05"/>
                  </a:solidFill>
                  <a:latin typeface="Georgia"/>
                  <a:ea typeface="Georgia"/>
                  <a:cs typeface="Georgia"/>
                  <a:sym typeface="Georgia"/>
                </a:rPr>
                <a:t>From Login to Exam — A Secure Journey</a:t>
              </a:r>
            </a:p>
            <a:p>
              <a:pPr algn="l">
                <a:lnSpc>
                  <a:spcPts val="4078"/>
                </a:lnSpc>
              </a:pPr>
            </a:p>
            <a:p>
              <a:pPr algn="l">
                <a:lnSpc>
                  <a:spcPts val="3357"/>
                </a:lnSpc>
              </a:pPr>
              <a:r>
                <a:rPr lang="en-US" sz="2799">
                  <a:solidFill>
                    <a:srgbClr val="F63B05"/>
                  </a:solidFill>
                  <a:latin typeface="Noto Serif"/>
                  <a:ea typeface="Noto Serif"/>
                  <a:cs typeface="Noto Serif"/>
                  <a:sym typeface="Noto Serif"/>
                </a:rPr>
                <a:t>Show this as a 5-step horizontal timeline: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917936" y="2693927"/>
            <a:ext cx="6651174" cy="1524952"/>
          </a:xfrm>
          <a:custGeom>
            <a:avLst/>
            <a:gdLst/>
            <a:ahLst/>
            <a:cxnLst/>
            <a:rect r="r" b="b" t="t" l="l"/>
            <a:pathLst>
              <a:path h="1524952" w="6651174">
                <a:moveTo>
                  <a:pt x="0" y="0"/>
                </a:moveTo>
                <a:lnTo>
                  <a:pt x="6651174" y="0"/>
                </a:lnTo>
                <a:lnTo>
                  <a:pt x="6651174" y="1524953"/>
                </a:lnTo>
                <a:lnTo>
                  <a:pt x="0" y="1524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408921" y="2820419"/>
            <a:ext cx="5669280" cy="694944"/>
            <a:chOff x="0" y="0"/>
            <a:chExt cx="755904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08921" y="2806132"/>
            <a:ext cx="5669280" cy="709231"/>
            <a:chOff x="0" y="0"/>
            <a:chExt cx="7559040" cy="9456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59040" cy="945642"/>
            </a:xfrm>
            <a:custGeom>
              <a:avLst/>
              <a:gdLst/>
              <a:ahLst/>
              <a:cxnLst/>
              <a:rect r="r" b="b" t="t" l="l"/>
              <a:pathLst>
                <a:path h="94564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45642"/>
                  </a:lnTo>
                  <a:lnTo>
                    <a:pt x="0" y="9456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54" r="0" b="-10575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5590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>
                  <a:solidFill>
                    <a:srgbClr val="F5C842"/>
                  </a:solidFill>
                  <a:latin typeface="Lovelo"/>
                  <a:ea typeface="Lovelo"/>
                  <a:cs typeface="Lovelo"/>
                  <a:sym typeface="Lovelo"/>
                </a:rPr>
                <a:t>🏪  Action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08921" y="3401568"/>
            <a:ext cx="5669280" cy="621792"/>
            <a:chOff x="0" y="0"/>
            <a:chExt cx="7559040" cy="829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829056"/>
            </a:xfrm>
            <a:custGeom>
              <a:avLst/>
              <a:gdLst/>
              <a:ahLst/>
              <a:cxnLst/>
              <a:rect r="r" b="b" t="t" l="l"/>
              <a:pathLst>
                <a:path h="8290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3" r="0" b="-12753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408921" y="3401568"/>
            <a:ext cx="5669280" cy="857755"/>
            <a:chOff x="0" y="0"/>
            <a:chExt cx="7559040" cy="11436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9040" cy="1143674"/>
            </a:xfrm>
            <a:custGeom>
              <a:avLst/>
              <a:gdLst/>
              <a:ahLst/>
              <a:cxnLst/>
              <a:rect r="r" b="b" t="t" l="l"/>
              <a:pathLst>
                <a:path h="114367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43674"/>
                  </a:lnTo>
                  <a:lnTo>
                    <a:pt x="0" y="1143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539" r="0" b="-650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559040" cy="1143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499">
                  <a:solidFill>
                    <a:srgbClr val="F5F0E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Every suspicious action becomes a real-time incident.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917936" y="4467863"/>
            <a:ext cx="6651174" cy="1524952"/>
          </a:xfrm>
          <a:custGeom>
            <a:avLst/>
            <a:gdLst/>
            <a:ahLst/>
            <a:cxnLst/>
            <a:rect r="r" b="b" t="t" l="l"/>
            <a:pathLst>
              <a:path h="1524952" w="6651174">
                <a:moveTo>
                  <a:pt x="0" y="0"/>
                </a:moveTo>
                <a:lnTo>
                  <a:pt x="6651174" y="0"/>
                </a:lnTo>
                <a:lnTo>
                  <a:pt x="6651174" y="1524953"/>
                </a:lnTo>
                <a:lnTo>
                  <a:pt x="0" y="1524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1408921" y="4599946"/>
            <a:ext cx="5669280" cy="694944"/>
            <a:chOff x="0" y="0"/>
            <a:chExt cx="755904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08921" y="4585659"/>
            <a:ext cx="5669280" cy="709232"/>
            <a:chOff x="0" y="0"/>
            <a:chExt cx="7559040" cy="94564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59040" cy="945642"/>
            </a:xfrm>
            <a:custGeom>
              <a:avLst/>
              <a:gdLst/>
              <a:ahLst/>
              <a:cxnLst/>
              <a:rect r="r" b="b" t="t" l="l"/>
              <a:pathLst>
                <a:path h="94564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45642"/>
                  </a:lnTo>
                  <a:lnTo>
                    <a:pt x="0" y="9456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54" r="0" b="-105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5590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>
                  <a:solidFill>
                    <a:srgbClr val="C084FC"/>
                  </a:solidFill>
                  <a:latin typeface="Lovelo"/>
                  <a:ea typeface="Lovelo"/>
                  <a:cs typeface="Lovelo"/>
                  <a:sym typeface="Lovelo"/>
                </a:rPr>
                <a:t>👤  Working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65741" y="5175504"/>
            <a:ext cx="5955649" cy="621792"/>
            <a:chOff x="0" y="0"/>
            <a:chExt cx="7940866" cy="8290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40802" cy="829056"/>
            </a:xfrm>
            <a:custGeom>
              <a:avLst/>
              <a:gdLst/>
              <a:ahLst/>
              <a:cxnLst/>
              <a:rect r="r" b="b" t="t" l="l"/>
              <a:pathLst>
                <a:path h="829056" w="7940802">
                  <a:moveTo>
                    <a:pt x="0" y="0"/>
                  </a:moveTo>
                  <a:lnTo>
                    <a:pt x="7940802" y="0"/>
                  </a:lnTo>
                  <a:lnTo>
                    <a:pt x="794080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501" r="0" b="-13650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265741" y="5175504"/>
            <a:ext cx="5955649" cy="621792"/>
            <a:chOff x="0" y="0"/>
            <a:chExt cx="7940866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40860" cy="829056"/>
            </a:xfrm>
            <a:custGeom>
              <a:avLst/>
              <a:gdLst/>
              <a:ahLst/>
              <a:cxnLst/>
              <a:rect r="r" b="b" t="t" l="l"/>
              <a:pathLst>
                <a:path h="829056" w="7940860">
                  <a:moveTo>
                    <a:pt x="0" y="0"/>
                  </a:moveTo>
                  <a:lnTo>
                    <a:pt x="7940860" y="0"/>
                  </a:lnTo>
                  <a:lnTo>
                    <a:pt x="79408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631" r="0" b="-13663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940866" cy="829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499">
                  <a:solidFill>
                    <a:srgbClr val="F5F0E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Real-Time Monitoring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718823" y="6296663"/>
            <a:ext cx="16850296" cy="3225736"/>
          </a:xfrm>
          <a:custGeom>
            <a:avLst/>
            <a:gdLst/>
            <a:ahLst/>
            <a:cxnLst/>
            <a:rect r="r" b="b" t="t" l="l"/>
            <a:pathLst>
              <a:path h="3225736" w="16850296">
                <a:moveTo>
                  <a:pt x="0" y="0"/>
                </a:moveTo>
                <a:lnTo>
                  <a:pt x="16850297" y="0"/>
                </a:lnTo>
                <a:lnTo>
                  <a:pt x="16850297" y="3225737"/>
                </a:lnTo>
                <a:lnTo>
                  <a:pt x="0" y="3225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009650" y="6585652"/>
            <a:ext cx="3840480" cy="1323880"/>
            <a:chOff x="0" y="0"/>
            <a:chExt cx="5120640" cy="17651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1765173"/>
            </a:xfrm>
            <a:custGeom>
              <a:avLst/>
              <a:gdLst/>
              <a:ahLst/>
              <a:cxnLst/>
              <a:rect r="r" b="b" t="t" l="l"/>
              <a:pathLst>
                <a:path h="1765173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65173"/>
                  </a:lnTo>
                  <a:lnTo>
                    <a:pt x="0" y="1765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4" r="0" b="-652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120640" cy="1774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63B0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Login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9650" y="7955280"/>
            <a:ext cx="3840480" cy="996772"/>
            <a:chOff x="0" y="0"/>
            <a:chExt cx="5120640" cy="13290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329055"/>
            </a:xfrm>
            <a:custGeom>
              <a:avLst/>
              <a:gdLst/>
              <a:ahLst/>
              <a:cxnLst/>
              <a:rect r="r" b="b" t="t" l="l"/>
              <a:pathLst>
                <a:path h="1329055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29055"/>
                  </a:lnTo>
                  <a:lnTo>
                    <a:pt x="0" y="13290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1" r="0" b="-25019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9650" y="7948136"/>
            <a:ext cx="3840480" cy="1003920"/>
            <a:chOff x="0" y="0"/>
            <a:chExt cx="5120640" cy="1338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1338565"/>
            </a:xfrm>
            <a:custGeom>
              <a:avLst/>
              <a:gdLst/>
              <a:ahLst/>
              <a:cxnLst/>
              <a:rect r="r" b="b" t="t" l="l"/>
              <a:pathLst>
                <a:path h="1338565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38565"/>
                  </a:lnTo>
                  <a:lnTo>
                    <a:pt x="0" y="1338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39" r="0" b="-2453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120640" cy="1348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Firebase Authentication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107943" y="6620227"/>
            <a:ext cx="25432" cy="2011680"/>
            <a:chOff x="0" y="0"/>
            <a:chExt cx="33909" cy="26822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909" cy="2682240"/>
            </a:xfrm>
            <a:custGeom>
              <a:avLst/>
              <a:gdLst/>
              <a:ahLst/>
              <a:cxnLst/>
              <a:rect r="r" b="b" t="t" l="l"/>
              <a:pathLst>
                <a:path h="2682240" w="33909">
                  <a:moveTo>
                    <a:pt x="33909" y="0"/>
                  </a:moveTo>
                  <a:lnTo>
                    <a:pt x="33909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303530" y="6620256"/>
            <a:ext cx="3840480" cy="1316736"/>
            <a:chOff x="0" y="0"/>
            <a:chExt cx="5120640" cy="17556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1" r="0" b="-6791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303530" y="6613112"/>
            <a:ext cx="3840480" cy="1671253"/>
            <a:chOff x="0" y="0"/>
            <a:chExt cx="5120640" cy="222833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0640" cy="2228337"/>
            </a:xfrm>
            <a:custGeom>
              <a:avLst/>
              <a:gdLst/>
              <a:ahLst/>
              <a:cxnLst/>
              <a:rect r="r" b="b" t="t" l="l"/>
              <a:pathLst>
                <a:path h="2228337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228337"/>
                  </a:lnTo>
                  <a:lnTo>
                    <a:pt x="0" y="2228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" r="0" b="156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120640" cy="2237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63B0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Secure Exam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303530" y="7955280"/>
            <a:ext cx="3840480" cy="996772"/>
            <a:chOff x="0" y="0"/>
            <a:chExt cx="5120640" cy="13290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1329055"/>
            </a:xfrm>
            <a:custGeom>
              <a:avLst/>
              <a:gdLst/>
              <a:ahLst/>
              <a:cxnLst/>
              <a:rect r="r" b="b" t="t" l="l"/>
              <a:pathLst>
                <a:path h="1329055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29055"/>
                  </a:lnTo>
                  <a:lnTo>
                    <a:pt x="0" y="13290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1" r="0" b="-2501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303530" y="7948136"/>
            <a:ext cx="3840480" cy="1003916"/>
            <a:chOff x="0" y="0"/>
            <a:chExt cx="5120640" cy="133855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0640" cy="1338560"/>
            </a:xfrm>
            <a:custGeom>
              <a:avLst/>
              <a:gdLst/>
              <a:ahLst/>
              <a:cxnLst/>
              <a:rect r="r" b="b" t="t" l="l"/>
              <a:pathLst>
                <a:path h="1338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38560"/>
                  </a:lnTo>
                  <a:lnTo>
                    <a:pt x="0" y="1338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39" r="0" b="-2453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120640" cy="1348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Face captured &amp; matched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14183" y="6620227"/>
            <a:ext cx="25432" cy="2011680"/>
            <a:chOff x="0" y="0"/>
            <a:chExt cx="33909" cy="2682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3909" cy="2682240"/>
            </a:xfrm>
            <a:custGeom>
              <a:avLst/>
              <a:gdLst/>
              <a:ahLst/>
              <a:cxnLst/>
              <a:rect r="r" b="b" t="t" l="l"/>
              <a:pathLst>
                <a:path h="2682240" w="33909">
                  <a:moveTo>
                    <a:pt x="33909" y="0"/>
                  </a:moveTo>
                  <a:lnTo>
                    <a:pt x="33909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09770" y="6620256"/>
            <a:ext cx="3840480" cy="1316736"/>
            <a:chOff x="0" y="0"/>
            <a:chExt cx="5120640" cy="17556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1" r="0" b="-679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956591" y="6440491"/>
            <a:ext cx="5286932" cy="2055763"/>
            <a:chOff x="0" y="0"/>
            <a:chExt cx="7049243" cy="274101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49243" cy="2741017"/>
            </a:xfrm>
            <a:custGeom>
              <a:avLst/>
              <a:gdLst/>
              <a:ahLst/>
              <a:cxnLst/>
              <a:rect r="r" b="b" t="t" l="l"/>
              <a:pathLst>
                <a:path h="2741017" w="7049243">
                  <a:moveTo>
                    <a:pt x="0" y="0"/>
                  </a:moveTo>
                  <a:lnTo>
                    <a:pt x="7049243" y="0"/>
                  </a:lnTo>
                  <a:lnTo>
                    <a:pt x="7049243" y="2741017"/>
                  </a:lnTo>
                  <a:lnTo>
                    <a:pt x="0" y="27410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1" r="27359" b="3139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7049243" cy="2750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63B0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Environment 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63B0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Scan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11036" y="7955280"/>
            <a:ext cx="3840480" cy="682447"/>
            <a:chOff x="0" y="0"/>
            <a:chExt cx="5120640" cy="90993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120640" cy="909955"/>
            </a:xfrm>
            <a:custGeom>
              <a:avLst/>
              <a:gdLst/>
              <a:ahLst/>
              <a:cxnLst/>
              <a:rect r="r" b="b" t="t" l="l"/>
              <a:pathLst>
                <a:path h="909955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09955"/>
                  </a:lnTo>
                  <a:lnTo>
                    <a:pt x="0" y="9099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574" r="0" b="-59571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692659" y="8105301"/>
            <a:ext cx="3840480" cy="689591"/>
            <a:chOff x="0" y="0"/>
            <a:chExt cx="5120640" cy="91945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919460"/>
            </a:xfrm>
            <a:custGeom>
              <a:avLst/>
              <a:gdLst/>
              <a:ahLst/>
              <a:cxnLst/>
              <a:rect r="r" b="b" t="t" l="l"/>
              <a:pathLst>
                <a:path h="9194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19460"/>
                  </a:lnTo>
                  <a:lnTo>
                    <a:pt x="0" y="919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16" r="0" b="-5851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5120640" cy="928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360° room verification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520423" y="6620227"/>
            <a:ext cx="25432" cy="2011680"/>
            <a:chOff x="0" y="0"/>
            <a:chExt cx="33909" cy="2682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3909" cy="2682240"/>
            </a:xfrm>
            <a:custGeom>
              <a:avLst/>
              <a:gdLst/>
              <a:ahLst/>
              <a:cxnLst/>
              <a:rect r="r" b="b" t="t" l="l"/>
              <a:pathLst>
                <a:path h="2682240" w="33909">
                  <a:moveTo>
                    <a:pt x="33909" y="0"/>
                  </a:moveTo>
                  <a:lnTo>
                    <a:pt x="33909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612501" y="6620256"/>
            <a:ext cx="3840480" cy="1316736"/>
            <a:chOff x="0" y="0"/>
            <a:chExt cx="5120640" cy="17556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1" r="0" b="-6791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612501" y="6613112"/>
            <a:ext cx="3840480" cy="1458057"/>
            <a:chOff x="0" y="0"/>
            <a:chExt cx="5120640" cy="194407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20640" cy="1944076"/>
            </a:xfrm>
            <a:custGeom>
              <a:avLst/>
              <a:gdLst/>
              <a:ahLst/>
              <a:cxnLst/>
              <a:rect r="r" b="b" t="t" l="l"/>
              <a:pathLst>
                <a:path h="19440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44076"/>
                  </a:lnTo>
                  <a:lnTo>
                    <a:pt x="0" y="1944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24" r="0" b="327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120640" cy="1953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63B0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Identity Verification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612501" y="7909570"/>
            <a:ext cx="3840480" cy="996772"/>
            <a:chOff x="0" y="0"/>
            <a:chExt cx="5120640" cy="132903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20640" cy="1329055"/>
            </a:xfrm>
            <a:custGeom>
              <a:avLst/>
              <a:gdLst/>
              <a:ahLst/>
              <a:cxnLst/>
              <a:rect r="r" b="b" t="t" l="l"/>
              <a:pathLst>
                <a:path h="1329055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29055"/>
                  </a:lnTo>
                  <a:lnTo>
                    <a:pt x="0" y="13290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1" r="0" b="-25019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612501" y="7902426"/>
            <a:ext cx="3840480" cy="1003916"/>
            <a:chOff x="0" y="0"/>
            <a:chExt cx="5120640" cy="133855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20640" cy="1338560"/>
            </a:xfrm>
            <a:custGeom>
              <a:avLst/>
              <a:gdLst/>
              <a:ahLst/>
              <a:cxnLst/>
              <a:rect r="r" b="b" t="t" l="l"/>
              <a:pathLst>
                <a:path h="1338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38560"/>
                  </a:lnTo>
                  <a:lnTo>
                    <a:pt x="0" y="1338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39" r="0" b="-2453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5120640" cy="1348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Electron Kiosk + Proctoring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512064"/>
            <a:chOff x="0" y="0"/>
            <a:chExt cx="219456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868" r="0" b="-5758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1496"/>
            <a:ext cx="16459200" cy="519208"/>
            <a:chOff x="0" y="0"/>
            <a:chExt cx="21945600" cy="692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92277"/>
            </a:xfrm>
            <a:custGeom>
              <a:avLst/>
              <a:gdLst/>
              <a:ahLst/>
              <a:cxnLst/>
              <a:rect r="r" b="b" t="t" l="l"/>
              <a:pathLst>
                <a:path h="69227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687" r="0" b="-5676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spc="800">
                  <a:solidFill>
                    <a:srgbClr val="F63B05"/>
                  </a:solidFill>
                  <a:latin typeface="Noto Serif"/>
                  <a:ea typeface="Noto Serif"/>
                  <a:cs typeface="Noto Serif"/>
                  <a:sym typeface="Noto Serif"/>
                </a:rPr>
                <a:t>PLATFORM 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6459200" cy="1213647"/>
            <a:chOff x="0" y="0"/>
            <a:chExt cx="21945600" cy="16181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618234"/>
            </a:xfrm>
            <a:custGeom>
              <a:avLst/>
              <a:gdLst/>
              <a:ahLst/>
              <a:cxnLst/>
              <a:rect r="r" b="b" t="t" l="l"/>
              <a:pathLst>
                <a:path h="161823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18234"/>
                  </a:lnTo>
                  <a:lnTo>
                    <a:pt x="0" y="1618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062" r="0" b="-21406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133856"/>
            <a:ext cx="16459200" cy="1213644"/>
            <a:chOff x="0" y="0"/>
            <a:chExt cx="21945600" cy="1618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618188"/>
            </a:xfrm>
            <a:custGeom>
              <a:avLst/>
              <a:gdLst/>
              <a:ahLst/>
              <a:cxnLst/>
              <a:rect r="r" b="b" t="t" l="l"/>
              <a:pathLst>
                <a:path h="16181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18188"/>
                  </a:lnTo>
                  <a:lnTo>
                    <a:pt x="0" y="1618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252" r="0" b="-2142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0" cy="1618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F5F0E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Makes SAMADHAN X Different?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18823" y="2584199"/>
            <a:ext cx="5328856" cy="3280600"/>
          </a:xfrm>
          <a:custGeom>
            <a:avLst/>
            <a:gdLst/>
            <a:ahLst/>
            <a:cxnLst/>
            <a:rect r="r" b="b" t="t" l="l"/>
            <a:pathLst>
              <a:path h="3280600" w="5328856">
                <a:moveTo>
                  <a:pt x="0" y="0"/>
                </a:moveTo>
                <a:lnTo>
                  <a:pt x="5328857" y="0"/>
                </a:lnTo>
                <a:lnTo>
                  <a:pt x="5328857" y="3280601"/>
                </a:lnTo>
                <a:lnTo>
                  <a:pt x="0" y="328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8823" y="2584199"/>
            <a:ext cx="5328856" cy="135064"/>
          </a:xfrm>
          <a:custGeom>
            <a:avLst/>
            <a:gdLst/>
            <a:ahLst/>
            <a:cxnLst/>
            <a:rect r="r" b="b" t="t" l="l"/>
            <a:pathLst>
              <a:path h="135064" w="5328856">
                <a:moveTo>
                  <a:pt x="0" y="0"/>
                </a:moveTo>
                <a:lnTo>
                  <a:pt x="5328857" y="0"/>
                </a:lnTo>
                <a:lnTo>
                  <a:pt x="5328857" y="135065"/>
                </a:lnTo>
                <a:lnTo>
                  <a:pt x="0" y="135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05840" y="2852928"/>
            <a:ext cx="914400" cy="877824"/>
            <a:chOff x="0" y="0"/>
            <a:chExt cx="1219200" cy="11704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257" t="0" r="-7325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852928"/>
            <a:ext cx="914400" cy="877824"/>
            <a:chOff x="0" y="0"/>
            <a:chExt cx="1219200" cy="1170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2192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📋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" y="3785616"/>
            <a:ext cx="4791456" cy="658368"/>
            <a:chOff x="0" y="0"/>
            <a:chExt cx="6388608" cy="877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8" r="0" b="-9171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3785616"/>
            <a:ext cx="4791456" cy="658368"/>
            <a:chOff x="0" y="0"/>
            <a:chExt cx="6388608" cy="877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388608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8"/>
                </a:lnSpc>
              </a:pPr>
              <a:r>
                <a:rPr lang="en-US" sz="2898" b="true">
                  <a:solidFill>
                    <a:srgbClr val="F63B05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AI Proctoring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5840" y="4462272"/>
            <a:ext cx="4791456" cy="1243584"/>
            <a:chOff x="0" y="0"/>
            <a:chExt cx="6388608" cy="16581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2" r="0" b="-2502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5840" y="4462272"/>
            <a:ext cx="4791456" cy="1243584"/>
            <a:chOff x="0" y="0"/>
            <a:chExt cx="6388608" cy="16581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74" r="0" b="-2507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388608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Face verification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Live face detection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Identity mismatch alerts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388103" y="2584199"/>
            <a:ext cx="5328856" cy="3280600"/>
          </a:xfrm>
          <a:custGeom>
            <a:avLst/>
            <a:gdLst/>
            <a:ahLst/>
            <a:cxnLst/>
            <a:rect r="r" b="b" t="t" l="l"/>
            <a:pathLst>
              <a:path h="3280600" w="5328856">
                <a:moveTo>
                  <a:pt x="0" y="0"/>
                </a:moveTo>
                <a:lnTo>
                  <a:pt x="5328857" y="0"/>
                </a:lnTo>
                <a:lnTo>
                  <a:pt x="5328857" y="3280601"/>
                </a:lnTo>
                <a:lnTo>
                  <a:pt x="0" y="328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388103" y="2584199"/>
            <a:ext cx="5328856" cy="135064"/>
          </a:xfrm>
          <a:custGeom>
            <a:avLst/>
            <a:gdLst/>
            <a:ahLst/>
            <a:cxnLst/>
            <a:rect r="r" b="b" t="t" l="l"/>
            <a:pathLst>
              <a:path h="135064" w="5328856">
                <a:moveTo>
                  <a:pt x="0" y="0"/>
                </a:moveTo>
                <a:lnTo>
                  <a:pt x="5328857" y="0"/>
                </a:lnTo>
                <a:lnTo>
                  <a:pt x="5328857" y="135065"/>
                </a:lnTo>
                <a:lnTo>
                  <a:pt x="0" y="135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6675120" y="2852928"/>
            <a:ext cx="914400" cy="877824"/>
            <a:chOff x="0" y="0"/>
            <a:chExt cx="1219200" cy="1170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257" t="0" r="-73257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675120" y="2852928"/>
            <a:ext cx="914400" cy="877824"/>
            <a:chOff x="0" y="0"/>
            <a:chExt cx="1219200" cy="1170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2192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📍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75120" y="3785616"/>
            <a:ext cx="4791456" cy="658368"/>
            <a:chOff x="0" y="0"/>
            <a:chExt cx="6388608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8" r="0" b="-9171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75120" y="3785616"/>
            <a:ext cx="4791456" cy="658368"/>
            <a:chOff x="0" y="0"/>
            <a:chExt cx="6388608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388608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8"/>
                </a:lnSpc>
              </a:pPr>
              <a:r>
                <a:rPr lang="en-US" sz="2898" b="true">
                  <a:solidFill>
                    <a:srgbClr val="F63B05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Secure Browser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4462272"/>
            <a:ext cx="4791456" cy="1243584"/>
            <a:chOff x="0" y="0"/>
            <a:chExt cx="6388608" cy="16581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2" r="0" b="-25022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75120" y="4462272"/>
            <a:ext cx="4791456" cy="1243584"/>
            <a:chOff x="0" y="0"/>
            <a:chExt cx="6388608" cy="16581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74" r="0" b="-2507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388608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Kiosk mode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Always-on-top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Keyboard shortcut blocking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057383" y="2584199"/>
            <a:ext cx="5328856" cy="3280600"/>
          </a:xfrm>
          <a:custGeom>
            <a:avLst/>
            <a:gdLst/>
            <a:ahLst/>
            <a:cxnLst/>
            <a:rect r="r" b="b" t="t" l="l"/>
            <a:pathLst>
              <a:path h="3280600" w="5328856">
                <a:moveTo>
                  <a:pt x="0" y="0"/>
                </a:moveTo>
                <a:lnTo>
                  <a:pt x="5328857" y="0"/>
                </a:lnTo>
                <a:lnTo>
                  <a:pt x="5328857" y="3280601"/>
                </a:lnTo>
                <a:lnTo>
                  <a:pt x="0" y="328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2057383" y="2584199"/>
            <a:ext cx="5328856" cy="135064"/>
          </a:xfrm>
          <a:custGeom>
            <a:avLst/>
            <a:gdLst/>
            <a:ahLst/>
            <a:cxnLst/>
            <a:rect r="r" b="b" t="t" l="l"/>
            <a:pathLst>
              <a:path h="135064" w="5328856">
                <a:moveTo>
                  <a:pt x="0" y="0"/>
                </a:moveTo>
                <a:lnTo>
                  <a:pt x="5328857" y="0"/>
                </a:lnTo>
                <a:lnTo>
                  <a:pt x="5328857" y="135065"/>
                </a:lnTo>
                <a:lnTo>
                  <a:pt x="0" y="135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2344400" y="2852928"/>
            <a:ext cx="914400" cy="877824"/>
            <a:chOff x="0" y="0"/>
            <a:chExt cx="1219200" cy="11704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257" t="0" r="-73257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0" y="2852928"/>
            <a:ext cx="914400" cy="877824"/>
            <a:chOff x="0" y="0"/>
            <a:chExt cx="1219200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2192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🚩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44400" y="3785616"/>
            <a:ext cx="4791456" cy="658368"/>
            <a:chOff x="0" y="0"/>
            <a:chExt cx="6388608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8" r="0" b="-9171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326083" y="3746754"/>
            <a:ext cx="4791456" cy="658368"/>
            <a:chOff x="0" y="0"/>
            <a:chExt cx="6388608" cy="8778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388608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60"/>
                </a:lnSpc>
              </a:pPr>
              <a:r>
                <a:rPr lang="en-US" sz="2799" b="true">
                  <a:solidFill>
                    <a:srgbClr val="F63B05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Environment Verification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344400" y="4462272"/>
            <a:ext cx="4791456" cy="1243584"/>
            <a:chOff x="0" y="0"/>
            <a:chExt cx="6388608" cy="16581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2" r="0" b="-25022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344400" y="4462272"/>
            <a:ext cx="4791456" cy="1243584"/>
            <a:chOff x="0" y="0"/>
            <a:chExt cx="6388608" cy="16581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74" r="0" b="-2507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6388608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360° room scan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Camera &amp; microphone permissions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Multi-monitor detection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718823" y="6150359"/>
            <a:ext cx="5328856" cy="3280601"/>
          </a:xfrm>
          <a:custGeom>
            <a:avLst/>
            <a:gdLst/>
            <a:ahLst/>
            <a:cxnLst/>
            <a:rect r="r" b="b" t="t" l="l"/>
            <a:pathLst>
              <a:path h="3280601" w="5328856">
                <a:moveTo>
                  <a:pt x="0" y="0"/>
                </a:moveTo>
                <a:lnTo>
                  <a:pt x="5328857" y="0"/>
                </a:lnTo>
                <a:lnTo>
                  <a:pt x="5328857" y="3280601"/>
                </a:lnTo>
                <a:lnTo>
                  <a:pt x="0" y="328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718823" y="6150359"/>
            <a:ext cx="5328856" cy="135064"/>
          </a:xfrm>
          <a:custGeom>
            <a:avLst/>
            <a:gdLst/>
            <a:ahLst/>
            <a:cxnLst/>
            <a:rect r="r" b="b" t="t" l="l"/>
            <a:pathLst>
              <a:path h="135064" w="5328856">
                <a:moveTo>
                  <a:pt x="0" y="0"/>
                </a:moveTo>
                <a:lnTo>
                  <a:pt x="5328857" y="0"/>
                </a:lnTo>
                <a:lnTo>
                  <a:pt x="5328857" y="135065"/>
                </a:lnTo>
                <a:lnTo>
                  <a:pt x="0" y="135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005840" y="6419088"/>
            <a:ext cx="914400" cy="877824"/>
            <a:chOff x="0" y="0"/>
            <a:chExt cx="1219200" cy="117043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257" t="0" r="-73257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05840" y="6419088"/>
            <a:ext cx="914400" cy="877824"/>
            <a:chOff x="0" y="0"/>
            <a:chExt cx="1219200" cy="117043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2192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📊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05840" y="7351776"/>
            <a:ext cx="4791456" cy="658368"/>
            <a:chOff x="0" y="0"/>
            <a:chExt cx="6388608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8" r="0" b="-9171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05840" y="7351776"/>
            <a:ext cx="4791456" cy="658368"/>
            <a:chOff x="0" y="0"/>
            <a:chExt cx="6388608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6388608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8"/>
                </a:lnSpc>
              </a:pPr>
              <a:r>
                <a:rPr lang="en-US" sz="2898" b="true">
                  <a:solidFill>
                    <a:srgbClr val="F63B05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Real-Time Alerts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05840" y="8028432"/>
            <a:ext cx="4791456" cy="1243584"/>
            <a:chOff x="0" y="0"/>
            <a:chExt cx="6388608" cy="16581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2" r="0" b="-2502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5840" y="8028432"/>
            <a:ext cx="4791456" cy="1434591"/>
            <a:chOff x="0" y="0"/>
            <a:chExt cx="6388608" cy="191278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88608" cy="1912788"/>
            </a:xfrm>
            <a:custGeom>
              <a:avLst/>
              <a:gdLst/>
              <a:ahLst/>
              <a:cxnLst/>
              <a:rect r="r" b="b" t="t" l="l"/>
              <a:pathLst>
                <a:path h="1912788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912788"/>
                  </a:lnTo>
                  <a:lnTo>
                    <a:pt x="0" y="19127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36" r="0" b="-842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388608" cy="1912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Tab switching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Window blur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Cheating incidents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Instant Socket.IO updates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6388103" y="6150359"/>
            <a:ext cx="5328856" cy="3280601"/>
          </a:xfrm>
          <a:custGeom>
            <a:avLst/>
            <a:gdLst/>
            <a:ahLst/>
            <a:cxnLst/>
            <a:rect r="r" b="b" t="t" l="l"/>
            <a:pathLst>
              <a:path h="3280601" w="5328856">
                <a:moveTo>
                  <a:pt x="0" y="0"/>
                </a:moveTo>
                <a:lnTo>
                  <a:pt x="5328857" y="0"/>
                </a:lnTo>
                <a:lnTo>
                  <a:pt x="5328857" y="3280601"/>
                </a:lnTo>
                <a:lnTo>
                  <a:pt x="0" y="328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6388103" y="6150359"/>
            <a:ext cx="5328856" cy="135064"/>
          </a:xfrm>
          <a:custGeom>
            <a:avLst/>
            <a:gdLst/>
            <a:ahLst/>
            <a:cxnLst/>
            <a:rect r="r" b="b" t="t" l="l"/>
            <a:pathLst>
              <a:path h="135064" w="5328856">
                <a:moveTo>
                  <a:pt x="0" y="0"/>
                </a:moveTo>
                <a:lnTo>
                  <a:pt x="5328857" y="0"/>
                </a:lnTo>
                <a:lnTo>
                  <a:pt x="5328857" y="135065"/>
                </a:lnTo>
                <a:lnTo>
                  <a:pt x="0" y="135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6675120" y="6419088"/>
            <a:ext cx="914400" cy="877824"/>
            <a:chOff x="0" y="0"/>
            <a:chExt cx="1219200" cy="117043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257" t="0" r="-73257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6675120" y="6419088"/>
            <a:ext cx="914400" cy="877824"/>
            <a:chOff x="0" y="0"/>
            <a:chExt cx="1219200" cy="11704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2192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⭐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675120" y="7351776"/>
            <a:ext cx="4791456" cy="658368"/>
            <a:chOff x="0" y="0"/>
            <a:chExt cx="6388608" cy="87782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8" r="0" b="-9171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675120" y="7351776"/>
            <a:ext cx="4791456" cy="658368"/>
            <a:chOff x="0" y="0"/>
            <a:chExt cx="6388608" cy="8778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6388608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8"/>
                </a:lnSpc>
              </a:pPr>
              <a:r>
                <a:rPr lang="en-US" sz="2898" b="true">
                  <a:solidFill>
                    <a:srgbClr val="F63B05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Smart Seat Management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675120" y="8028432"/>
            <a:ext cx="4791456" cy="1243584"/>
            <a:chOff x="0" y="0"/>
            <a:chExt cx="6388608" cy="16581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2" r="0" b="-25022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675120" y="8028432"/>
            <a:ext cx="4791456" cy="1243584"/>
            <a:chOff x="0" y="0"/>
            <a:chExt cx="6388608" cy="165811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74" r="0" b="-2507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6388608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Live 3D seat map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Student allocation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Attendance status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12057383" y="6150359"/>
            <a:ext cx="5328856" cy="3280601"/>
          </a:xfrm>
          <a:custGeom>
            <a:avLst/>
            <a:gdLst/>
            <a:ahLst/>
            <a:cxnLst/>
            <a:rect r="r" b="b" t="t" l="l"/>
            <a:pathLst>
              <a:path h="3280601" w="5328856">
                <a:moveTo>
                  <a:pt x="0" y="0"/>
                </a:moveTo>
                <a:lnTo>
                  <a:pt x="5328857" y="0"/>
                </a:lnTo>
                <a:lnTo>
                  <a:pt x="5328857" y="3280601"/>
                </a:lnTo>
                <a:lnTo>
                  <a:pt x="0" y="328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12057383" y="6150359"/>
            <a:ext cx="5328856" cy="135064"/>
          </a:xfrm>
          <a:custGeom>
            <a:avLst/>
            <a:gdLst/>
            <a:ahLst/>
            <a:cxnLst/>
            <a:rect r="r" b="b" t="t" l="l"/>
            <a:pathLst>
              <a:path h="135064" w="5328856">
                <a:moveTo>
                  <a:pt x="0" y="0"/>
                </a:moveTo>
                <a:lnTo>
                  <a:pt x="5328857" y="0"/>
                </a:lnTo>
                <a:lnTo>
                  <a:pt x="5328857" y="135065"/>
                </a:lnTo>
                <a:lnTo>
                  <a:pt x="0" y="135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2344400" y="6419088"/>
            <a:ext cx="914400" cy="877824"/>
            <a:chOff x="0" y="0"/>
            <a:chExt cx="1219200" cy="117043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257" t="0" r="-73257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344400" y="6419088"/>
            <a:ext cx="914400" cy="877824"/>
            <a:chOff x="0" y="0"/>
            <a:chExt cx="1219200" cy="117043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19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2192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🛡️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344400" y="7351776"/>
            <a:ext cx="4791456" cy="658368"/>
            <a:chOff x="0" y="0"/>
            <a:chExt cx="6388608" cy="8778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8" r="0" b="-9171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344400" y="7351776"/>
            <a:ext cx="4791456" cy="658368"/>
            <a:chOff x="0" y="0"/>
            <a:chExt cx="6388608" cy="8778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388608" cy="877824"/>
            </a:xfrm>
            <a:custGeom>
              <a:avLst/>
              <a:gdLst/>
              <a:ahLst/>
              <a:cxnLst/>
              <a:rect r="r" b="b" t="t" l="l"/>
              <a:pathLst>
                <a:path h="877824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6388608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8"/>
                </a:lnSpc>
              </a:pPr>
              <a:r>
                <a:rPr lang="en-US" sz="2898" b="true">
                  <a:solidFill>
                    <a:srgbClr val="F63B05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Role-Based Access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344400" y="8028432"/>
            <a:ext cx="4791456" cy="1243584"/>
            <a:chOff x="0" y="0"/>
            <a:chExt cx="6388608" cy="165811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22" r="0" b="-25022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344400" y="8028432"/>
            <a:ext cx="4791456" cy="1243584"/>
            <a:chOff x="0" y="0"/>
            <a:chExt cx="6388608" cy="165811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388608" cy="1658112"/>
            </a:xfrm>
            <a:custGeom>
              <a:avLst/>
              <a:gdLst/>
              <a:ahLst/>
              <a:cxnLst/>
              <a:rect r="r" b="b" t="t" l="l"/>
              <a:pathLst>
                <a:path h="165811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74" r="0" b="-2507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6388608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Student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Invigilator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706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Admin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512064"/>
            <a:chOff x="0" y="0"/>
            <a:chExt cx="219456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868" r="0" b="-5758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1496"/>
            <a:ext cx="16459200" cy="519208"/>
            <a:chOff x="0" y="0"/>
            <a:chExt cx="21945600" cy="692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92277"/>
            </a:xfrm>
            <a:custGeom>
              <a:avLst/>
              <a:gdLst/>
              <a:ahLst/>
              <a:cxnLst/>
              <a:rect r="r" b="b" t="t" l="l"/>
              <a:pathLst>
                <a:path h="69227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687" r="0" b="-5676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spc="800">
                  <a:solidFill>
                    <a:srgbClr val="F63B05"/>
                  </a:solidFill>
                  <a:latin typeface="Noto Serif"/>
                  <a:ea typeface="Noto Serif"/>
                  <a:cs typeface="Noto Serif"/>
                  <a:sym typeface="Noto Serif"/>
                </a:rPr>
                <a:t>HOW IT WORKS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3716000" cy="1188720"/>
            <a:chOff x="0" y="0"/>
            <a:chExt cx="1828800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670" r="0" b="-17467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6566" y="1201313"/>
            <a:ext cx="13716000" cy="2249909"/>
            <a:chOff x="0" y="0"/>
            <a:chExt cx="18288000" cy="29998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999879"/>
            </a:xfrm>
            <a:custGeom>
              <a:avLst/>
              <a:gdLst/>
              <a:ahLst/>
              <a:cxnLst/>
              <a:rect r="r" b="b" t="t" l="l"/>
              <a:pathLst>
                <a:path h="2999879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999879"/>
                  </a:lnTo>
                  <a:lnTo>
                    <a:pt x="0" y="29998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09" r="0" b="-453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3009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5F0E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System Architecture &amp; Technology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11680" y="2798064"/>
            <a:ext cx="5120640" cy="509997"/>
            <a:chOff x="0" y="0"/>
            <a:chExt cx="6827520" cy="6799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679958"/>
            </a:xfrm>
            <a:custGeom>
              <a:avLst/>
              <a:gdLst/>
              <a:ahLst/>
              <a:cxnLst/>
              <a:rect r="r" b="b" t="t" l="l"/>
              <a:pathLst>
                <a:path h="67995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79958"/>
                  </a:lnTo>
                  <a:lnTo>
                    <a:pt x="0" y="679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511" r="0" b="-14551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11680" y="3291840"/>
            <a:ext cx="15270480" cy="731520"/>
            <a:chOff x="0" y="0"/>
            <a:chExt cx="203606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606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467" r="0" b="-35646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29" y="4108447"/>
            <a:ext cx="16459200" cy="12668"/>
            <a:chOff x="0" y="0"/>
            <a:chExt cx="21945600" cy="16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6891"/>
            </a:xfrm>
            <a:custGeom>
              <a:avLst/>
              <a:gdLst/>
              <a:ahLst/>
              <a:cxnLst/>
              <a:rect r="r" b="b" t="t" l="l"/>
              <a:pathLst>
                <a:path h="1689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011680" y="4242816"/>
            <a:ext cx="5120640" cy="509997"/>
            <a:chOff x="0" y="0"/>
            <a:chExt cx="6827520" cy="6799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7520" cy="679958"/>
            </a:xfrm>
            <a:custGeom>
              <a:avLst/>
              <a:gdLst/>
              <a:ahLst/>
              <a:cxnLst/>
              <a:rect r="r" b="b" t="t" l="l"/>
              <a:pathLst>
                <a:path h="67995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79958"/>
                  </a:lnTo>
                  <a:lnTo>
                    <a:pt x="0" y="679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511" r="0" b="-14551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29" y="5553199"/>
            <a:ext cx="16459200" cy="12668"/>
            <a:chOff x="0" y="0"/>
            <a:chExt cx="21945600" cy="168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6891"/>
            </a:xfrm>
            <a:custGeom>
              <a:avLst/>
              <a:gdLst/>
              <a:ahLst/>
              <a:cxnLst/>
              <a:rect r="r" b="b" t="t" l="l"/>
              <a:pathLst>
                <a:path h="1689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29" y="6997951"/>
            <a:ext cx="16459200" cy="12668"/>
            <a:chOff x="0" y="0"/>
            <a:chExt cx="21945600" cy="168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16891"/>
            </a:xfrm>
            <a:custGeom>
              <a:avLst/>
              <a:gdLst/>
              <a:ahLst/>
              <a:cxnLst/>
              <a:rect r="r" b="b" t="t" l="l"/>
              <a:pathLst>
                <a:path h="1689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29" y="8442703"/>
            <a:ext cx="16459200" cy="12668"/>
            <a:chOff x="0" y="0"/>
            <a:chExt cx="21945600" cy="168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16891"/>
            </a:xfrm>
            <a:custGeom>
              <a:avLst/>
              <a:gdLst/>
              <a:ahLst/>
              <a:cxnLst/>
              <a:rect r="r" b="b" t="t" l="l"/>
              <a:pathLst>
                <a:path h="1689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11680" y="8577072"/>
            <a:ext cx="5120640" cy="509997"/>
            <a:chOff x="0" y="0"/>
            <a:chExt cx="6827520" cy="6799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0" cy="679958"/>
            </a:xfrm>
            <a:custGeom>
              <a:avLst/>
              <a:gdLst/>
              <a:ahLst/>
              <a:cxnLst/>
              <a:rect r="r" b="b" t="t" l="l"/>
              <a:pathLst>
                <a:path h="67995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79958"/>
                  </a:lnTo>
                  <a:lnTo>
                    <a:pt x="0" y="679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511" r="0" b="-145517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257444" y="3657600"/>
            <a:ext cx="5411405" cy="5962282"/>
          </a:xfrm>
          <a:custGeom>
            <a:avLst/>
            <a:gdLst/>
            <a:ahLst/>
            <a:cxnLst/>
            <a:rect r="r" b="b" t="t" l="l"/>
            <a:pathLst>
              <a:path h="5962282" w="5411405">
                <a:moveTo>
                  <a:pt x="0" y="0"/>
                </a:moveTo>
                <a:lnTo>
                  <a:pt x="5411405" y="0"/>
                </a:lnTo>
                <a:lnTo>
                  <a:pt x="5411405" y="5962282"/>
                </a:lnTo>
                <a:lnTo>
                  <a:pt x="0" y="5962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153" r="0" b="-13138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406195" y="4829013"/>
            <a:ext cx="12730245" cy="5309026"/>
          </a:xfrm>
          <a:custGeom>
            <a:avLst/>
            <a:gdLst/>
            <a:ahLst/>
            <a:cxnLst/>
            <a:rect r="r" b="b" t="t" l="l"/>
            <a:pathLst>
              <a:path h="5309026" w="12730245">
                <a:moveTo>
                  <a:pt x="0" y="0"/>
                </a:moveTo>
                <a:lnTo>
                  <a:pt x="12730245" y="0"/>
                </a:lnTo>
                <a:lnTo>
                  <a:pt x="12730245" y="5309026"/>
                </a:lnTo>
                <a:lnTo>
                  <a:pt x="0" y="5309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9" t="-23119" r="-879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677254" y="3783430"/>
            <a:ext cx="6188126" cy="59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3"/>
              </a:lnSpc>
              <a:spcBef>
                <a:spcPct val="0"/>
              </a:spcBef>
            </a:pPr>
            <a:r>
              <a:rPr lang="en-US" b="true" sz="346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512064"/>
            <a:chOff x="0" y="0"/>
            <a:chExt cx="219456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868" r="0" b="-5758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1496"/>
            <a:ext cx="16459200" cy="519208"/>
            <a:chOff x="0" y="0"/>
            <a:chExt cx="21945600" cy="692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92277"/>
            </a:xfrm>
            <a:custGeom>
              <a:avLst/>
              <a:gdLst/>
              <a:ahLst/>
              <a:cxnLst/>
              <a:rect r="r" b="b" t="t" l="l"/>
              <a:pathLst>
                <a:path h="69227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687" r="0" b="-5676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spc="800">
                  <a:solidFill>
                    <a:srgbClr val="F63B05"/>
                  </a:solidFill>
                  <a:latin typeface="Noto Serif"/>
                  <a:ea typeface="Noto Serif"/>
                  <a:cs typeface="Noto Serif"/>
                  <a:sym typeface="Noto Serif"/>
                </a:rPr>
                <a:t>HOW IT WORKS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3716000" cy="1188720"/>
            <a:chOff x="0" y="0"/>
            <a:chExt cx="1828800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670" r="0" b="-17467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126712"/>
            <a:ext cx="13716000" cy="1249784"/>
            <a:chOff x="0" y="0"/>
            <a:chExt cx="18288000" cy="1666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666379"/>
            </a:xfrm>
            <a:custGeom>
              <a:avLst/>
              <a:gdLst/>
              <a:ahLst/>
              <a:cxnLst/>
              <a:rect r="r" b="b" t="t" l="l"/>
              <a:pathLst>
                <a:path h="1666379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666379"/>
                  </a:lnTo>
                  <a:lnTo>
                    <a:pt x="0" y="1666379"/>
                  </a:lnTo>
                  <a:close/>
                </a:path>
              </a:pathLst>
            </a:custGeom>
            <a:solidFill>
              <a:srgbClr val="F97316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675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DB31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See SAMADHAN X in Action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069063" y="1304039"/>
            <a:ext cx="3317176" cy="720280"/>
          </a:xfrm>
          <a:custGeom>
            <a:avLst/>
            <a:gdLst/>
            <a:ahLst/>
            <a:cxnLst/>
            <a:rect r="r" b="b" t="t" l="l"/>
            <a:pathLst>
              <a:path h="720280" w="3317176">
                <a:moveTo>
                  <a:pt x="0" y="0"/>
                </a:moveTo>
                <a:lnTo>
                  <a:pt x="3317177" y="0"/>
                </a:lnTo>
                <a:lnTo>
                  <a:pt x="3317177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081760" y="1316736"/>
            <a:ext cx="3291840" cy="694944"/>
            <a:chOff x="0" y="0"/>
            <a:chExt cx="438912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32" r="0" b="-4223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094400" y="1304039"/>
            <a:ext cx="3291840" cy="702088"/>
            <a:chOff x="0" y="0"/>
            <a:chExt cx="4389120" cy="936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0" cy="936117"/>
            </a:xfrm>
            <a:custGeom>
              <a:avLst/>
              <a:gdLst/>
              <a:ahLst/>
              <a:cxnLst/>
              <a:rect r="r" b="b" t="t" l="l"/>
              <a:pathLst>
                <a:path h="9361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36117"/>
                  </a:lnTo>
                  <a:lnTo>
                    <a:pt x="0" y="9361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58" r="0" b="-413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0D0D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DEMO / EXPERIENCE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55998" y="2452696"/>
            <a:ext cx="17576004" cy="7279082"/>
          </a:xfrm>
          <a:custGeom>
            <a:avLst/>
            <a:gdLst/>
            <a:ahLst/>
            <a:cxnLst/>
            <a:rect r="r" b="b" t="t" l="l"/>
            <a:pathLst>
              <a:path h="7279082" w="17576004">
                <a:moveTo>
                  <a:pt x="0" y="0"/>
                </a:moveTo>
                <a:lnTo>
                  <a:pt x="17576004" y="0"/>
                </a:lnTo>
                <a:lnTo>
                  <a:pt x="17576004" y="7279082"/>
                </a:lnTo>
                <a:lnTo>
                  <a:pt x="0" y="7279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291" r="0" b="-9145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0744200" cy="130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Intent &amp; Completion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921" y="2675640"/>
            <a:ext cx="13760004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Captures the student's examination intent and journey progress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Connects student actions with meaningful exam states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03692"/>
            <a:ext cx="7401441" cy="435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— Journey successfully finished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🟢COMPLETED - All The Stats are completed. </a:t>
            </a: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🟡 PARTIAL — Progress still pending</a:t>
            </a: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🔴 BLOCKED — Security/system restriction</a:t>
            </a: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⚪ UNRESOLVED — Intent needs clarification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603692"/>
            <a:ext cx="8672604" cy="435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Navigation — Guides the next action</a:t>
            </a:r>
          </a:p>
          <a:p>
            <a:pPr algn="ctr">
              <a:lnSpc>
                <a:spcPts val="4199"/>
              </a:lnSpc>
            </a:pP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🤖 AI Integration — Linked with proctoring</a:t>
            </a: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⚡ Real-Time Updates — Instant invigilator visibility</a:t>
            </a: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📝 Exam Completion — Connected to submission flow</a:t>
            </a: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🔌 Electron Integration — Secure browser events included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8623420" y="4378147"/>
            <a:ext cx="0" cy="4807826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512064"/>
            <a:chOff x="0" y="0"/>
            <a:chExt cx="219456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868" r="0" b="-5758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133856"/>
            <a:ext cx="16459200" cy="1133856"/>
            <a:chOff x="0" y="0"/>
            <a:chExt cx="21945600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650" r="0" b="-23265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6117" y="804672"/>
            <a:ext cx="16459200" cy="1141000"/>
            <a:chOff x="0" y="0"/>
            <a:chExt cx="21945600" cy="1521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21333"/>
            </a:xfrm>
            <a:custGeom>
              <a:avLst/>
              <a:gdLst/>
              <a:ahLst/>
              <a:cxnLst/>
              <a:rect r="r" b="b" t="t" l="l"/>
              <a:pathLst>
                <a:path h="152133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1333"/>
                  </a:lnTo>
                  <a:lnTo>
                    <a:pt x="0" y="15213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076" r="0" b="-2310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F5F0E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Impact + Future 💡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6117" y="2534917"/>
            <a:ext cx="8097584" cy="7000304"/>
          </a:xfrm>
          <a:custGeom>
            <a:avLst/>
            <a:gdLst/>
            <a:ahLst/>
            <a:cxnLst/>
            <a:rect r="r" b="b" t="t" l="l"/>
            <a:pathLst>
              <a:path h="7000304" w="8097584">
                <a:moveTo>
                  <a:pt x="0" y="0"/>
                </a:moveTo>
                <a:lnTo>
                  <a:pt x="8097583" y="0"/>
                </a:lnTo>
                <a:lnTo>
                  <a:pt x="8097583" y="7000303"/>
                </a:lnTo>
                <a:lnTo>
                  <a:pt x="0" y="7000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8823" y="2547623"/>
            <a:ext cx="8072056" cy="1214056"/>
          </a:xfrm>
          <a:custGeom>
            <a:avLst/>
            <a:gdLst/>
            <a:ahLst/>
            <a:cxnLst/>
            <a:rect r="r" b="b" t="t" l="l"/>
            <a:pathLst>
              <a:path h="1214056" w="8072056">
                <a:moveTo>
                  <a:pt x="0" y="0"/>
                </a:moveTo>
                <a:lnTo>
                  <a:pt x="8072057" y="0"/>
                </a:lnTo>
                <a:lnTo>
                  <a:pt x="8072057" y="1214057"/>
                </a:lnTo>
                <a:lnTo>
                  <a:pt x="0" y="12140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5840" y="2560320"/>
            <a:ext cx="5669280" cy="1188720"/>
            <a:chOff x="0" y="0"/>
            <a:chExt cx="7559040" cy="158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59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3" r="0" b="-4286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2560320"/>
            <a:ext cx="5669280" cy="1188720"/>
            <a:chOff x="0" y="0"/>
            <a:chExt cx="7559040" cy="1584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59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28" r="0" b="-42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55904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D0D0D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🏪 Impact Today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03520" y="2547623"/>
            <a:ext cx="2743200" cy="1188720"/>
            <a:chOff x="0" y="0"/>
            <a:chExt cx="3657600" cy="158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36" t="0" r="-563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3856" y="4096512"/>
            <a:ext cx="7315200" cy="841248"/>
            <a:chOff x="0" y="0"/>
            <a:chExt cx="9753600" cy="1121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3856" y="5065776"/>
            <a:ext cx="7315200" cy="841248"/>
            <a:chOff x="0" y="0"/>
            <a:chExt cx="9753600" cy="11216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33856" y="6035040"/>
            <a:ext cx="7315200" cy="841248"/>
            <a:chOff x="0" y="0"/>
            <a:chExt cx="9753600" cy="11216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3856" y="7004304"/>
            <a:ext cx="7315200" cy="841248"/>
            <a:chOff x="0" y="0"/>
            <a:chExt cx="9753600" cy="11216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3856" y="7973568"/>
            <a:ext cx="7315200" cy="841248"/>
            <a:chOff x="0" y="0"/>
            <a:chExt cx="9753600" cy="1121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484357" y="2534917"/>
            <a:ext cx="8097584" cy="7000304"/>
          </a:xfrm>
          <a:custGeom>
            <a:avLst/>
            <a:gdLst/>
            <a:ahLst/>
            <a:cxnLst/>
            <a:rect r="r" b="b" t="t" l="l"/>
            <a:pathLst>
              <a:path h="7000304" w="8097584">
                <a:moveTo>
                  <a:pt x="0" y="0"/>
                </a:moveTo>
                <a:lnTo>
                  <a:pt x="8097583" y="0"/>
                </a:lnTo>
                <a:lnTo>
                  <a:pt x="8097583" y="7000303"/>
                </a:lnTo>
                <a:lnTo>
                  <a:pt x="0" y="70003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497063" y="2547623"/>
            <a:ext cx="8072056" cy="1214056"/>
          </a:xfrm>
          <a:custGeom>
            <a:avLst/>
            <a:gdLst/>
            <a:ahLst/>
            <a:cxnLst/>
            <a:rect r="r" b="b" t="t" l="l"/>
            <a:pathLst>
              <a:path h="1214056" w="8072056">
                <a:moveTo>
                  <a:pt x="0" y="0"/>
                </a:moveTo>
                <a:lnTo>
                  <a:pt x="8072057" y="0"/>
                </a:lnTo>
                <a:lnTo>
                  <a:pt x="8072057" y="1214057"/>
                </a:lnTo>
                <a:lnTo>
                  <a:pt x="0" y="1214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784080" y="2560320"/>
            <a:ext cx="5669280" cy="1188720"/>
            <a:chOff x="0" y="0"/>
            <a:chExt cx="7559040" cy="1584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3" r="0" b="-4286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84080" y="2560320"/>
            <a:ext cx="5669280" cy="1188720"/>
            <a:chOff x="0" y="0"/>
            <a:chExt cx="755904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59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28" r="0" b="-4292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55904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👤  What's Next?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081760" y="2547623"/>
            <a:ext cx="2743200" cy="1188720"/>
            <a:chOff x="0" y="0"/>
            <a:chExt cx="3657600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36" t="0" r="-5637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912096" y="4096512"/>
            <a:ext cx="7315200" cy="841248"/>
            <a:chOff x="0" y="0"/>
            <a:chExt cx="9753600" cy="1121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912096" y="5065776"/>
            <a:ext cx="7315200" cy="841248"/>
            <a:chOff x="0" y="0"/>
            <a:chExt cx="9753600" cy="11216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912096" y="6035040"/>
            <a:ext cx="7315200" cy="841248"/>
            <a:chOff x="0" y="0"/>
            <a:chExt cx="9753600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912096" y="7004304"/>
            <a:ext cx="7315200" cy="841248"/>
            <a:chOff x="0" y="0"/>
            <a:chExt cx="9753600" cy="11216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12096" y="7973568"/>
            <a:ext cx="7315200" cy="841248"/>
            <a:chOff x="0" y="0"/>
            <a:chExt cx="9753600" cy="1121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17" r="0" b="-119317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608449" y="3944112"/>
            <a:ext cx="7849285" cy="488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AI behavior detection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Voice/audio anomaly detection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incident scoring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Centralized examination analytics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deployment &amp; scalability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Institution-wide exam management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66813" y="3944112"/>
            <a:ext cx="7849285" cy="347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Fairer examinations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Reduced manual monitoring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intervention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Stronger exam security</a:t>
            </a:r>
          </a:p>
          <a:p>
            <a:pPr algn="l" marL="727179" indent="-363590" lvl="1">
              <a:lnSpc>
                <a:spcPts val="5591"/>
              </a:lnSpc>
              <a:buFont typeface="Arial"/>
              <a:buChar char="•"/>
            </a:pPr>
            <a:r>
              <a:rPr lang="en-US" b="true" sz="3368">
                <a:solidFill>
                  <a:srgbClr val="FFFA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Scalable for institutions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3B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2532" y="3080861"/>
            <a:ext cx="15008762" cy="720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7"/>
              </a:lnSpc>
            </a:pPr>
            <a:r>
              <a:rPr lang="en-US" sz="34941" spc="-593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2908" y="633746"/>
            <a:ext cx="10303812" cy="10287000"/>
          </a:xfrm>
          <a:custGeom>
            <a:avLst/>
            <a:gdLst/>
            <a:ahLst/>
            <a:cxnLst/>
            <a:rect r="r" b="b" t="t" l="l"/>
            <a:pathLst>
              <a:path h="10287000" w="10303812">
                <a:moveTo>
                  <a:pt x="0" y="0"/>
                </a:moveTo>
                <a:lnTo>
                  <a:pt x="10303811" y="0"/>
                </a:lnTo>
                <a:lnTo>
                  <a:pt x="103038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326719" y="633746"/>
            <a:ext cx="10303812" cy="10287000"/>
          </a:xfrm>
          <a:custGeom>
            <a:avLst/>
            <a:gdLst/>
            <a:ahLst/>
            <a:cxnLst/>
            <a:rect r="r" b="b" t="t" l="l"/>
            <a:pathLst>
              <a:path h="10287000" w="10303812">
                <a:moveTo>
                  <a:pt x="10303812" y="0"/>
                </a:moveTo>
                <a:lnTo>
                  <a:pt x="0" y="0"/>
                </a:lnTo>
                <a:lnTo>
                  <a:pt x="0" y="10287000"/>
                </a:lnTo>
                <a:lnTo>
                  <a:pt x="10303812" y="10287000"/>
                </a:lnTo>
                <a:lnTo>
                  <a:pt x="10303812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7585" y="1145476"/>
            <a:ext cx="24181603" cy="17651806"/>
          </a:xfrm>
          <a:custGeom>
            <a:avLst/>
            <a:gdLst/>
            <a:ahLst/>
            <a:cxnLst/>
            <a:rect r="r" b="b" t="t" l="l"/>
            <a:pathLst>
              <a:path h="17651806" w="24181603">
                <a:moveTo>
                  <a:pt x="0" y="0"/>
                </a:moveTo>
                <a:lnTo>
                  <a:pt x="24181603" y="0"/>
                </a:lnTo>
                <a:lnTo>
                  <a:pt x="24181603" y="17651807"/>
                </a:lnTo>
                <a:lnTo>
                  <a:pt x="0" y="17651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006785" y="-280673"/>
            <a:ext cx="24181603" cy="17651806"/>
          </a:xfrm>
          <a:custGeom>
            <a:avLst/>
            <a:gdLst/>
            <a:ahLst/>
            <a:cxnLst/>
            <a:rect r="r" b="b" t="t" l="l"/>
            <a:pathLst>
              <a:path h="17651806" w="24181603">
                <a:moveTo>
                  <a:pt x="0" y="0"/>
                </a:moveTo>
                <a:lnTo>
                  <a:pt x="24181603" y="0"/>
                </a:lnTo>
                <a:lnTo>
                  <a:pt x="24181603" y="17651806"/>
                </a:lnTo>
                <a:lnTo>
                  <a:pt x="0" y="17651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9872" y="2189293"/>
            <a:ext cx="8794071" cy="201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11"/>
              </a:lnSpc>
            </a:pPr>
            <a:r>
              <a:rPr lang="en-US" sz="10509">
                <a:solidFill>
                  <a:srgbClr val="000000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For your attention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878126" y="9141733"/>
            <a:ext cx="6337535" cy="829637"/>
          </a:xfrm>
          <a:custGeom>
            <a:avLst/>
            <a:gdLst/>
            <a:ahLst/>
            <a:cxnLst/>
            <a:rect r="r" b="b" t="t" l="l"/>
            <a:pathLst>
              <a:path h="829637" w="6337535">
                <a:moveTo>
                  <a:pt x="0" y="0"/>
                </a:moveTo>
                <a:lnTo>
                  <a:pt x="6337535" y="0"/>
                </a:lnTo>
                <a:lnTo>
                  <a:pt x="6337535" y="829637"/>
                </a:lnTo>
                <a:lnTo>
                  <a:pt x="0" y="829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" r="0" b="-1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DAHTB1mji1o</dc:identifier>
  <dcterms:modified xsi:type="dcterms:W3CDTF">2011-08-01T06:04:30Z</dcterms:modified>
  <cp:revision>1</cp:revision>
  <dc:title>SAMADHAN</dc:title>
</cp:coreProperties>
</file>